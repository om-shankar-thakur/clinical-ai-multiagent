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1B_24234A10.xml" ContentType="application/vnd.ms-powerpoint.comment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  <p:sldMasterId id="2147483661" r:id="rId5"/>
  </p:sldMasterIdLst>
  <p:notesMasterIdLst>
    <p:notesMasterId r:id="rId18"/>
  </p:notesMasterIdLst>
  <p:sldIdLst>
    <p:sldId id="283" r:id="rId6"/>
    <p:sldId id="279" r:id="rId7"/>
    <p:sldId id="259" r:id="rId8"/>
    <p:sldId id="260" r:id="rId9"/>
    <p:sldId id="316" r:id="rId10"/>
    <p:sldId id="317" r:id="rId11"/>
    <p:sldId id="261" r:id="rId12"/>
    <p:sldId id="312" r:id="rId13"/>
    <p:sldId id="262" r:id="rId14"/>
    <p:sldId id="315" r:id="rId15"/>
    <p:sldId id="263" r:id="rId16"/>
    <p:sldId id="307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Proxima Nova" panose="020B0604020202020204" charset="0"/>
      <p:regular r:id="rId23"/>
      <p:bold r:id="rId24"/>
      <p:italic r:id="rId25"/>
      <p:boldItalic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  <p:embeddedFont>
      <p:font typeface="Segoe UI Semibold" panose="020B0702040204020203" pitchFamily="34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ow to use this Slide Deck" id="{87AF1F3D-E7AF-479D-B546-DC9DA506A43A}">
          <p14:sldIdLst/>
        </p14:section>
        <p14:section name="Submission Slides" id="{E79D90EC-578C-4DF0-98AB-7AE0DDFDB0B6}">
          <p14:sldIdLst>
            <p14:sldId id="283"/>
            <p14:sldId id="279"/>
            <p14:sldId id="259"/>
            <p14:sldId id="260"/>
            <p14:sldId id="316"/>
            <p14:sldId id="317"/>
            <p14:sldId id="261"/>
            <p14:sldId id="312"/>
            <p14:sldId id="262"/>
            <p14:sldId id="315"/>
            <p14:sldId id="263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D3CE69-BBDE-523D-D494-369B4A27B698}" name="Harshal Charde" initials="HC" userId="S::harshal@spektrasystems.com::56813450-185b-459b-982b-2c06fc0e06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BA6AE-7968-4EB8-87C2-C53EF5D2D503}" v="19" dt="2026-07-16T06:37:18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microsoft.com/office/2018/10/relationships/authors" Target="authors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kur, OM Shankar (Cognizant)" userId="58fa656a-d9c0-4257-bb9c-30a4401fc0a1" providerId="ADAL" clId="{C53FADFE-4D4D-461D-BDE8-EDC997E26B7C}"/>
    <pc:docChg chg="undo custSel modSld">
      <pc:chgData name="Thakur, OM Shankar (Cognizant)" userId="58fa656a-d9c0-4257-bb9c-30a4401fc0a1" providerId="ADAL" clId="{C53FADFE-4D4D-461D-BDE8-EDC997E26B7C}" dt="2026-07-16T06:39:51.303" v="43" actId="478"/>
      <pc:docMkLst>
        <pc:docMk/>
      </pc:docMkLst>
      <pc:sldChg chg="addSp delSp modSp mod">
        <pc:chgData name="Thakur, OM Shankar (Cognizant)" userId="58fa656a-d9c0-4257-bb9c-30a4401fc0a1" providerId="ADAL" clId="{C53FADFE-4D4D-461D-BDE8-EDC997E26B7C}" dt="2026-07-16T06:39:51.303" v="43" actId="478"/>
        <pc:sldMkLst>
          <pc:docMk/>
          <pc:sldMk cId="0" sldId="260"/>
        </pc:sldMkLst>
        <pc:spChg chg="mod">
          <ac:chgData name="Thakur, OM Shankar (Cognizant)" userId="58fa656a-d9c0-4257-bb9c-30a4401fc0a1" providerId="ADAL" clId="{C53FADFE-4D4D-461D-BDE8-EDC997E26B7C}" dt="2026-07-16T06:11:16.218" v="21"/>
          <ac:spMkLst>
            <pc:docMk/>
            <pc:sldMk cId="0" sldId="260"/>
            <ac:spMk id="3" creationId="{00000000-0000-0000-0000-000000000000}"/>
          </ac:spMkLst>
        </pc:spChg>
        <pc:spChg chg="add">
          <ac:chgData name="Thakur, OM Shankar (Cognizant)" userId="58fa656a-d9c0-4257-bb9c-30a4401fc0a1" providerId="ADAL" clId="{C53FADFE-4D4D-461D-BDE8-EDC997E26B7C}" dt="2026-07-16T06:09:33.884" v="0"/>
          <ac:spMkLst>
            <pc:docMk/>
            <pc:sldMk cId="0" sldId="260"/>
            <ac:spMk id="4" creationId="{74A86640-FF6E-B4DA-D694-DDD58871A91B}"/>
          </ac:spMkLst>
        </pc:spChg>
        <pc:spChg chg="add">
          <ac:chgData name="Thakur, OM Shankar (Cognizant)" userId="58fa656a-d9c0-4257-bb9c-30a4401fc0a1" providerId="ADAL" clId="{C53FADFE-4D4D-461D-BDE8-EDC997E26B7C}" dt="2026-07-16T06:09:45.036" v="2"/>
          <ac:spMkLst>
            <pc:docMk/>
            <pc:sldMk cId="0" sldId="260"/>
            <ac:spMk id="5" creationId="{11FA06A4-7ED2-D871-6DAE-F7EBB6198AB3}"/>
          </ac:spMkLst>
        </pc:spChg>
        <pc:spChg chg="add mod">
          <ac:chgData name="Thakur, OM Shankar (Cognizant)" userId="58fa656a-d9c0-4257-bb9c-30a4401fc0a1" providerId="ADAL" clId="{C53FADFE-4D4D-461D-BDE8-EDC997E26B7C}" dt="2026-07-16T06:09:48.638" v="14"/>
          <ac:spMkLst>
            <pc:docMk/>
            <pc:sldMk cId="0" sldId="260"/>
            <ac:spMk id="6" creationId="{03FEDAAF-A2CC-38B3-B5BC-6CEC4D05096D}"/>
          </ac:spMkLst>
        </pc:spChg>
        <pc:spChg chg="add mod">
          <ac:chgData name="Thakur, OM Shankar (Cognizant)" userId="58fa656a-d9c0-4257-bb9c-30a4401fc0a1" providerId="ADAL" clId="{C53FADFE-4D4D-461D-BDE8-EDC997E26B7C}" dt="2026-07-16T06:09:48.605" v="13"/>
          <ac:spMkLst>
            <pc:docMk/>
            <pc:sldMk cId="0" sldId="260"/>
            <ac:spMk id="7" creationId="{D94AA08E-EC87-2B1C-A2A3-FF22F9AB4EFC}"/>
          </ac:spMkLst>
        </pc:spChg>
        <pc:spChg chg="add mod">
          <ac:chgData name="Thakur, OM Shankar (Cognizant)" userId="58fa656a-d9c0-4257-bb9c-30a4401fc0a1" providerId="ADAL" clId="{C53FADFE-4D4D-461D-BDE8-EDC997E26B7C}" dt="2026-07-16T06:09:48.574" v="12"/>
          <ac:spMkLst>
            <pc:docMk/>
            <pc:sldMk cId="0" sldId="260"/>
            <ac:spMk id="8" creationId="{44055183-916A-5931-A740-78B0437EB00D}"/>
          </ac:spMkLst>
        </pc:spChg>
        <pc:spChg chg="add mod">
          <ac:chgData name="Thakur, OM Shankar (Cognizant)" userId="58fa656a-d9c0-4257-bb9c-30a4401fc0a1" providerId="ADAL" clId="{C53FADFE-4D4D-461D-BDE8-EDC997E26B7C}" dt="2026-07-16T06:09:48.545" v="11"/>
          <ac:spMkLst>
            <pc:docMk/>
            <pc:sldMk cId="0" sldId="260"/>
            <ac:spMk id="9" creationId="{158E63F0-07B1-4474-D763-600C4EE9B32A}"/>
          </ac:spMkLst>
        </pc:spChg>
        <pc:spChg chg="add mod">
          <ac:chgData name="Thakur, OM Shankar (Cognizant)" userId="58fa656a-d9c0-4257-bb9c-30a4401fc0a1" providerId="ADAL" clId="{C53FADFE-4D4D-461D-BDE8-EDC997E26B7C}" dt="2026-07-16T06:09:48.522" v="10"/>
          <ac:spMkLst>
            <pc:docMk/>
            <pc:sldMk cId="0" sldId="260"/>
            <ac:spMk id="10" creationId="{3796C1C2-70D4-E971-F03E-5DC04C3BFAC0}"/>
          </ac:spMkLst>
        </pc:spChg>
        <pc:spChg chg="add mod">
          <ac:chgData name="Thakur, OM Shankar (Cognizant)" userId="58fa656a-d9c0-4257-bb9c-30a4401fc0a1" providerId="ADAL" clId="{C53FADFE-4D4D-461D-BDE8-EDC997E26B7C}" dt="2026-07-16T06:09:47.994" v="9"/>
          <ac:spMkLst>
            <pc:docMk/>
            <pc:sldMk cId="0" sldId="260"/>
            <ac:spMk id="12" creationId="{89581C36-89B3-D650-ECBF-A0DE91CCDD94}"/>
          </ac:spMkLst>
        </pc:spChg>
        <pc:spChg chg="add del">
          <ac:chgData name="Thakur, OM Shankar (Cognizant)" userId="58fa656a-d9c0-4257-bb9c-30a4401fc0a1" providerId="ADAL" clId="{C53FADFE-4D4D-461D-BDE8-EDC997E26B7C}" dt="2026-07-16T06:10:33.507" v="20" actId="22"/>
          <ac:spMkLst>
            <pc:docMk/>
            <pc:sldMk cId="0" sldId="260"/>
            <ac:spMk id="16" creationId="{025CB413-7C86-6521-C8B8-7408B34FD80B}"/>
          </ac:spMkLst>
        </pc:spChg>
        <pc:picChg chg="add del">
          <ac:chgData name="Thakur, OM Shankar (Cognizant)" userId="58fa656a-d9c0-4257-bb9c-30a4401fc0a1" providerId="ADAL" clId="{C53FADFE-4D4D-461D-BDE8-EDC997E26B7C}" dt="2026-07-16T06:37:17.441" v="35" actId="478"/>
          <ac:picMkLst>
            <pc:docMk/>
            <pc:sldMk cId="0" sldId="260"/>
            <ac:picMk id="14" creationId="{89749E93-C754-D5F1-0495-4AFF9C996DDF}"/>
          </ac:picMkLst>
        </pc:picChg>
        <pc:picChg chg="add del">
          <ac:chgData name="Thakur, OM Shankar (Cognizant)" userId="58fa656a-d9c0-4257-bb9c-30a4401fc0a1" providerId="ADAL" clId="{C53FADFE-4D4D-461D-BDE8-EDC997E26B7C}" dt="2026-07-16T06:10:08.887" v="16" actId="478"/>
          <ac:picMkLst>
            <pc:docMk/>
            <pc:sldMk cId="0" sldId="260"/>
            <ac:picMk id="17" creationId="{10E814E3-D6B8-B877-5E51-ACE19A33EE48}"/>
          </ac:picMkLst>
        </pc:picChg>
        <pc:picChg chg="add del mod">
          <ac:chgData name="Thakur, OM Shankar (Cognizant)" userId="58fa656a-d9c0-4257-bb9c-30a4401fc0a1" providerId="ADAL" clId="{C53FADFE-4D4D-461D-BDE8-EDC997E26B7C}" dt="2026-07-16T06:36:01.460" v="33" actId="931"/>
          <ac:picMkLst>
            <pc:docMk/>
            <pc:sldMk cId="0" sldId="260"/>
            <ac:picMk id="19" creationId="{2D15FB9A-2F30-73B2-6895-837A5B45BF33}"/>
          </ac:picMkLst>
        </pc:picChg>
        <pc:picChg chg="add del mod">
          <ac:chgData name="Thakur, OM Shankar (Cognizant)" userId="58fa656a-d9c0-4257-bb9c-30a4401fc0a1" providerId="ADAL" clId="{C53FADFE-4D4D-461D-BDE8-EDC997E26B7C}" dt="2026-07-16T06:37:23.177" v="37" actId="478"/>
          <ac:picMkLst>
            <pc:docMk/>
            <pc:sldMk cId="0" sldId="260"/>
            <ac:picMk id="20" creationId="{507D3438-41B3-9C1D-1D86-7238752002B4}"/>
          </ac:picMkLst>
        </pc:picChg>
        <pc:picChg chg="add del mod">
          <ac:chgData name="Thakur, OM Shankar (Cognizant)" userId="58fa656a-d9c0-4257-bb9c-30a4401fc0a1" providerId="ADAL" clId="{C53FADFE-4D4D-461D-BDE8-EDC997E26B7C}" dt="2026-07-16T06:39:51.303" v="43" actId="478"/>
          <ac:picMkLst>
            <pc:docMk/>
            <pc:sldMk cId="0" sldId="260"/>
            <ac:picMk id="22" creationId="{1AFD2B82-2F74-BB37-E622-B9B297DE5BB1}"/>
          </ac:picMkLst>
        </pc:picChg>
        <pc:picChg chg="add del">
          <ac:chgData name="Thakur, OM Shankar (Cognizant)" userId="58fa656a-d9c0-4257-bb9c-30a4401fc0a1" providerId="ADAL" clId="{C53FADFE-4D4D-461D-BDE8-EDC997E26B7C}" dt="2026-07-16T06:39:41.294" v="40" actId="22"/>
          <ac:picMkLst>
            <pc:docMk/>
            <pc:sldMk cId="0" sldId="260"/>
            <ac:picMk id="24" creationId="{19330AD4-8A8D-BB04-62D5-6FEC141C689A}"/>
          </ac:picMkLst>
        </pc:picChg>
        <pc:picChg chg="add del">
          <ac:chgData name="Thakur, OM Shankar (Cognizant)" userId="58fa656a-d9c0-4257-bb9c-30a4401fc0a1" providerId="ADAL" clId="{C53FADFE-4D4D-461D-BDE8-EDC997E26B7C}" dt="2026-07-16T06:39:47.006" v="42" actId="22"/>
          <ac:picMkLst>
            <pc:docMk/>
            <pc:sldMk cId="0" sldId="260"/>
            <ac:picMk id="26" creationId="{B1A10878-35DA-9636-6804-EB122EBC1113}"/>
          </ac:picMkLst>
        </pc:picChg>
      </pc:sldChg>
    </pc:docChg>
  </pc:docChgLst>
</pc:chgInfo>
</file>

<file path=ppt/comments/modernComment_11B_24234A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663859-55D4-43D5-B347-49EF06C38AB0}" authorId="{71D3CE69-BBDE-523D-D494-369B4A27B698}" created="2024-05-07T16:33:54.931">
    <pc:sldMkLst xmlns:pc="http://schemas.microsoft.com/office/powerpoint/2013/main/command">
      <pc:docMk/>
      <pc:sldMk cId="606292496" sldId="283"/>
    </pc:sldMkLst>
    <p188:txBody>
      <a:bodyPr/>
      <a:lstStyle/>
      <a:p>
        <a:r>
          <a:rPr lang="en-US"/>
          <a:t>Just the title is changed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FFCFF5-268C-450A-90CA-A9303B6908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04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87975" y="789025"/>
            <a:ext cx="85206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TITLE_AND_BODY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3"/>
          </p:nvPr>
        </p:nvSpPr>
        <p:spPr>
          <a:xfrm>
            <a:off x="386975" y="8640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3"/>
          </p:nvPr>
        </p:nvSpPr>
        <p:spPr>
          <a:xfrm>
            <a:off x="386975" y="7878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3020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quare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198" y="1819156"/>
            <a:ext cx="3125915" cy="830997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50E6FF"/>
                </a:solidFill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2971800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6" name="Picture 5" descr="A group of people in a meeting sitting at a table using laptops and tablets">
            <a:extLst>
              <a:ext uri="{FF2B5EF4-FFF2-40B4-BE49-F238E27FC236}">
                <a16:creationId xmlns:a16="http://schemas.microsoft.com/office/drawing/2014/main" id="{A12608C9-548E-45D7-9B83-F36CA62AA6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6700" y="1905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02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quare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198" y="1819156"/>
            <a:ext cx="3125915" cy="830997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2971800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8" name="Picture 7" descr="Two people sitting at a table using a computer.&#10;&#10;Description automatically generated">
            <a:extLst>
              <a:ext uri="{FF2B5EF4-FFF2-40B4-BE49-F238E27FC236}">
                <a16:creationId xmlns:a16="http://schemas.microsoft.com/office/drawing/2014/main" id="{B321057F-5FE2-4E98-A82A-F395CCC9BA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5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234833"/>
            <a:ext cx="6858000" cy="415499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700" spc="-38" baseline="0">
                <a:solidFill>
                  <a:srgbClr val="50E6F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2971800"/>
            <a:ext cx="6858000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4028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234833"/>
            <a:ext cx="6858000" cy="415499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700" spc="-38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2971800"/>
            <a:ext cx="6858000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20902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39793" y="1075778"/>
            <a:ext cx="8263890" cy="1209562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03687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8150" y="1076325"/>
            <a:ext cx="8264129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15785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7" y="342900"/>
            <a:ext cx="8263890" cy="4154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38150" y="1076325"/>
            <a:ext cx="3909060" cy="1237262"/>
          </a:xfrm>
        </p:spPr>
        <p:txBody>
          <a:bodyPr wrap="square">
            <a:spAutoFit/>
          </a:bodyPr>
          <a:lstStyle>
            <a:lvl1pPr marL="0" indent="0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1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91691" indent="0">
              <a:buFont typeface="Wingdings" panose="05000000000000000000" pitchFamily="2" charset="2"/>
              <a:buNone/>
              <a:defRPr sz="1500" b="0"/>
            </a:lvl2pPr>
            <a:lvl3pPr marL="338138" indent="0">
              <a:buFont typeface="Wingdings" panose="05000000000000000000" pitchFamily="2" charset="2"/>
              <a:buNone/>
              <a:tabLst/>
              <a:defRPr sz="1200" b="0"/>
            </a:lvl3pPr>
            <a:lvl4pPr marL="489347" indent="0">
              <a:buFont typeface="Wingdings" panose="05000000000000000000" pitchFamily="2" charset="2"/>
              <a:buNone/>
              <a:defRPr sz="1050" b="0"/>
            </a:lvl4pPr>
            <a:lvl5pPr marL="640556" indent="0">
              <a:buFont typeface="Wingdings" panose="05000000000000000000" pitchFamily="2" charset="2"/>
              <a:buNone/>
              <a:tabLst/>
              <a:defRPr sz="105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7878" y="1076325"/>
            <a:ext cx="3909060" cy="1237262"/>
          </a:xfrm>
        </p:spPr>
        <p:txBody>
          <a:bodyPr wrap="square">
            <a:spAutoFit/>
          </a:bodyPr>
          <a:lstStyle>
            <a:lvl1pPr marL="0" indent="0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1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91691" indent="0">
              <a:buFont typeface="Wingdings" panose="05000000000000000000" pitchFamily="2" charset="2"/>
              <a:buNone/>
              <a:defRPr sz="1500" b="0"/>
            </a:lvl2pPr>
            <a:lvl3pPr marL="338138" indent="0">
              <a:buFont typeface="Wingdings" panose="05000000000000000000" pitchFamily="2" charset="2"/>
              <a:buNone/>
              <a:tabLst/>
              <a:defRPr sz="1200" b="0"/>
            </a:lvl3pPr>
            <a:lvl4pPr marL="489347" indent="0">
              <a:buFont typeface="Wingdings" panose="05000000000000000000" pitchFamily="2" charset="2"/>
              <a:buNone/>
              <a:defRPr sz="1050" b="0"/>
            </a:lvl4pPr>
            <a:lvl5pPr marL="640556" indent="0">
              <a:buFont typeface="Wingdings" panose="05000000000000000000" pitchFamily="2" charset="2"/>
              <a:buNone/>
              <a:tabLst/>
              <a:defRPr sz="105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39563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8151" y="1076325"/>
            <a:ext cx="3908822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2266" y="1076325"/>
            <a:ext cx="3914775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355476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47613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342900"/>
            <a:ext cx="4131314" cy="295466"/>
          </a:xfrm>
        </p:spPr>
        <p:txBody>
          <a:bodyPr tIns="64008"/>
          <a:lstStyle>
            <a:lvl1pPr>
              <a:defRPr sz="15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86794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1519238"/>
            <a:ext cx="3121486" cy="830997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2700" b="0" spc="-37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150" y="2651656"/>
            <a:ext cx="3121819" cy="253916"/>
          </a:xfrm>
        </p:spPr>
        <p:txBody>
          <a:bodyPr/>
          <a:lstStyle>
            <a:lvl1pPr marL="0" indent="0">
              <a:buNone/>
              <a:defRPr sz="1650">
                <a:latin typeface="+mn-lt"/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496491" indent="0">
              <a:buNone/>
              <a:defRPr/>
            </a:lvl4pPr>
            <a:lvl5pPr marL="64174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51435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6262258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019" y="2364001"/>
            <a:ext cx="3121486" cy="415499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700" b="0" spc="-37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51435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94092481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236228"/>
            <a:ext cx="3120390" cy="646331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100" b="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51435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94833674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40F29D-C5E8-44D2-9526-FDD92F64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7" y="4078501"/>
            <a:ext cx="8263890" cy="415499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9144000" cy="3429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097280" rIns="0" bIns="0" rtlCol="0" anchor="t" anchorCtr="0">
            <a:noAutofit/>
          </a:bodyPr>
          <a:lstStyle>
            <a:lvl1pPr marL="0" indent="0" algn="ctr">
              <a:buNone/>
              <a:defRPr lang="en-US" sz="1050" b="1" dirty="0">
                <a:solidFill>
                  <a:srgbClr val="FFFFFF"/>
                </a:solidFill>
              </a:defRPr>
            </a:lvl1pPr>
          </a:lstStyle>
          <a:p>
            <a:pPr marL="171450" lvl="0" indent="-17145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74427619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40F29D-C5E8-44D2-9526-FDD92F64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7" y="649501"/>
            <a:ext cx="8263890" cy="415499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1786" y="1714500"/>
            <a:ext cx="9144000" cy="3429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097280" rIns="0" bIns="0" rtlCol="0" anchor="t" anchorCtr="0">
            <a:noAutofit/>
          </a:bodyPr>
          <a:lstStyle>
            <a:lvl1pPr marL="0" indent="0" algn="ctr">
              <a:buNone/>
              <a:defRPr lang="en-US" sz="1050" b="1" dirty="0">
                <a:solidFill>
                  <a:srgbClr val="FFFFFF"/>
                </a:solidFill>
              </a:defRPr>
            </a:lvl1pPr>
          </a:lstStyle>
          <a:p>
            <a:pPr marL="171450" lvl="0" indent="-17145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15259697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49" y="4267200"/>
            <a:ext cx="4025646" cy="2308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436959" y="1519238"/>
            <a:ext cx="4025646" cy="260604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188720" rtlCol="0" anchor="ctr" anchorCtr="0">
            <a:noAutofit/>
          </a:bodyPr>
          <a:lstStyle>
            <a:lvl1pPr marL="0" indent="0" algn="ctr">
              <a:buNone/>
              <a:defRPr lang="en-US" sz="750" b="1" dirty="0">
                <a:solidFill>
                  <a:srgbClr val="FFFFFF"/>
                </a:solidFill>
              </a:defRPr>
            </a:lvl1pPr>
          </a:lstStyle>
          <a:p>
            <a:pPr marL="171450" lvl="0" indent="-17145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1395" y="4267200"/>
            <a:ext cx="4025646" cy="2308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79441" y="1519238"/>
            <a:ext cx="4025646" cy="260604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188720" rtlCol="0" anchor="ctr" anchorCtr="0">
            <a:noAutofit/>
          </a:bodyPr>
          <a:lstStyle>
            <a:lvl1pPr marL="0" indent="0" algn="ctr">
              <a:buNone/>
              <a:defRPr lang="en-US" sz="750" b="1" dirty="0">
                <a:solidFill>
                  <a:srgbClr val="FFFFFF"/>
                </a:solidFill>
              </a:defRPr>
            </a:lvl1pPr>
          </a:lstStyle>
          <a:p>
            <a:pPr marL="171450" lvl="0" indent="-17145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75072476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960" y="4267200"/>
            <a:ext cx="2606278" cy="2308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436959" y="1519238"/>
            <a:ext cx="2606040" cy="260604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68980" y="4267200"/>
            <a:ext cx="2606278" cy="2308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268980" y="1519238"/>
            <a:ext cx="2606040" cy="260604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0764" y="4267200"/>
            <a:ext cx="2606278" cy="2308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9047" y="1519238"/>
            <a:ext cx="2606040" cy="260604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27237112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960" y="3565454"/>
            <a:ext cx="1899666" cy="46166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436959" y="1519238"/>
            <a:ext cx="1899666" cy="1899666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0431" y="3565454"/>
            <a:ext cx="1899666" cy="46166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560431" y="1519238"/>
            <a:ext cx="1899666" cy="1899666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3903" y="3565454"/>
            <a:ext cx="1899666" cy="46166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83903" y="1519238"/>
            <a:ext cx="1899666" cy="1899666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07375" y="3565454"/>
            <a:ext cx="1899666" cy="46166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807375" y="1519238"/>
            <a:ext cx="1899666" cy="1899666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90446086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497F3D2-4B1F-4B39-9F73-BA917D388B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1513285"/>
            <a:ext cx="2611041" cy="230833"/>
          </a:xfrm>
        </p:spPr>
        <p:txBody>
          <a:bodyPr wrap="square">
            <a:spAutoFit/>
          </a:bodyPr>
          <a:lstStyle>
            <a:lvl1pPr marL="0" indent="0">
              <a:buNone/>
              <a:defRPr sz="1500">
                <a:latin typeface="+mn-lt"/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496491" indent="0">
              <a:buNone/>
              <a:defRPr/>
            </a:lvl4pPr>
            <a:lvl5pPr marL="641747" indent="0">
              <a:buNone/>
              <a:defRPr/>
            </a:lvl5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 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36959" y="1077516"/>
            <a:ext cx="5439966" cy="3624263"/>
          </a:xfrm>
          <a:blipFill>
            <a:blip r:embed="rId2"/>
            <a:stretch>
              <a:fillRect/>
            </a:stretch>
          </a:blipFill>
        </p:spPr>
        <p:txBody>
          <a:bodyPr bIns="1097280" anchor="ctr">
            <a:noAutofit/>
          </a:bodyPr>
          <a:lstStyle>
            <a:lvl1pPr marL="0" indent="0" algn="ctr">
              <a:buNone/>
              <a:defRPr sz="105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screen shot here </a:t>
            </a:r>
            <a:br>
              <a:rPr lang="en-US" dirty="0"/>
            </a:br>
            <a:r>
              <a:rPr lang="en-US" dirty="0"/>
              <a:t>or click or tap icon below to insert </a:t>
            </a:r>
          </a:p>
        </p:txBody>
      </p:sp>
    </p:spTree>
    <p:extLst>
      <p:ext uri="{BB962C8B-B14F-4D97-AF65-F5344CB8AC3E}">
        <p14:creationId xmlns:p14="http://schemas.microsoft.com/office/powerpoint/2010/main" val="119421274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6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12">
          <p15:clr>
            <a:srgbClr val="5ACBF0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729381"/>
            <a:ext cx="2601717" cy="830997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67075" y="1835279"/>
            <a:ext cx="5438394" cy="276999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800"/>
            </a:lvl1pPr>
            <a:lvl2pPr marL="17145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41198" y="1513285"/>
            <a:ext cx="2607994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7075" y="1513285"/>
            <a:ext cx="5439966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89920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5ACBF0"/>
          </p15:clr>
        </p15:guide>
        <p15:guide id="13" pos="2744">
          <p15:clr>
            <a:srgbClr val="5ACBF0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orient="horz" pos="172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EC010-DDB9-42D4-B78F-4D54E3BEA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0" y="0"/>
            <a:ext cx="3267075" cy="51435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99354" fontAlgn="base">
              <a:spcBef>
                <a:spcPct val="0"/>
              </a:spcBef>
              <a:spcAft>
                <a:spcPct val="0"/>
              </a:spcAft>
            </a:pPr>
            <a:endParaRPr lang="en-US" sz="15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FA0F84-F2FF-4407-BF3B-865F6671E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1198" y="2384776"/>
            <a:ext cx="2386966" cy="373949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5F69672-DC8B-4F90-8167-6367A65F8F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6423" y="2410168"/>
            <a:ext cx="4949557" cy="323165"/>
          </a:xfrm>
        </p:spPr>
        <p:txBody>
          <a:bodyPr anchor="ctr" anchorCtr="0"/>
          <a:lstStyle>
            <a:lvl1pPr marL="0" indent="0">
              <a:spcAft>
                <a:spcPts val="900"/>
              </a:spcAft>
              <a:buNone/>
              <a:defRPr sz="2100"/>
            </a:lvl1pPr>
            <a:lvl2pPr marL="17145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465907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5ACBF0"/>
          </p15:clr>
        </p15:guide>
        <p15:guide id="14" pos="3155">
          <p15:clr>
            <a:srgbClr val="5ACBF0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9" orient="horz" pos="2160">
          <p15:clr>
            <a:srgbClr val="FDE53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96353E-AE14-4DD0-9CFC-E131DA9D8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92" r="34862"/>
          <a:stretch/>
        </p:blipFill>
        <p:spPr>
          <a:xfrm>
            <a:off x="0" y="0"/>
            <a:ext cx="3267075" cy="5143500"/>
          </a:xfrm>
          <a:custGeom>
            <a:avLst/>
            <a:gdLst>
              <a:gd name="connsiteX0" fmla="*/ 0 w 4356100"/>
              <a:gd name="connsiteY0" fmla="*/ 0 h 6858000"/>
              <a:gd name="connsiteX1" fmla="*/ 4356100 w 4356100"/>
              <a:gd name="connsiteY1" fmla="*/ 0 h 6858000"/>
              <a:gd name="connsiteX2" fmla="*/ 4356100 w 4356100"/>
              <a:gd name="connsiteY2" fmla="*/ 6858000 h 6858000"/>
              <a:gd name="connsiteX3" fmla="*/ 0 w 43561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6100" h="6858000">
                <a:moveTo>
                  <a:pt x="0" y="0"/>
                </a:moveTo>
                <a:lnTo>
                  <a:pt x="4356100" y="0"/>
                </a:lnTo>
                <a:lnTo>
                  <a:pt x="43561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268861-55BD-4B42-9602-50B635078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0" y="0"/>
            <a:ext cx="3267075" cy="51435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99354" fontAlgn="base">
              <a:spcBef>
                <a:spcPct val="0"/>
              </a:spcBef>
              <a:spcAft>
                <a:spcPct val="0"/>
              </a:spcAft>
            </a:pPr>
            <a:endParaRPr lang="en-US" sz="15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FA0F84-F2FF-4407-BF3B-865F6671E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41198" y="2384776"/>
            <a:ext cx="2386966" cy="373949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5F69672-DC8B-4F90-8167-6367A65F8F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6423" y="2410168"/>
            <a:ext cx="4949557" cy="323165"/>
          </a:xfrm>
        </p:spPr>
        <p:txBody>
          <a:bodyPr anchor="ctr" anchorCtr="0"/>
          <a:lstStyle>
            <a:lvl1pPr marL="0" indent="0">
              <a:spcAft>
                <a:spcPts val="900"/>
              </a:spcAft>
              <a:buNone/>
              <a:defRPr sz="2100"/>
            </a:lvl1pPr>
            <a:lvl2pPr marL="17145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288478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5ACBF0"/>
          </p15:clr>
        </p15:guide>
        <p15:guide id="14" pos="3155">
          <p15:clr>
            <a:srgbClr val="5ACBF0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9" orient="horz" pos="2160">
          <p15:clr>
            <a:srgbClr val="FDE53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FA0F84-F2FF-4407-BF3B-865F6671E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198" y="2384776"/>
            <a:ext cx="2386966" cy="373949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5F69672-DC8B-4F90-8167-6367A65F8F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6423" y="2410168"/>
            <a:ext cx="4949557" cy="323165"/>
          </a:xfrm>
        </p:spPr>
        <p:txBody>
          <a:bodyPr anchor="ctr" anchorCtr="0">
            <a:spAutoFit/>
          </a:bodyPr>
          <a:lstStyle>
            <a:lvl1pPr marL="0" indent="0">
              <a:spcAft>
                <a:spcPts val="900"/>
              </a:spcAft>
              <a:buNone/>
              <a:defRPr sz="2100"/>
            </a:lvl1pPr>
            <a:lvl2pPr marL="17145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681215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9" orient="horz" pos="2160">
          <p15:clr>
            <a:srgbClr val="FDE53C"/>
          </p15:clr>
        </p15:guide>
        <p15:guide id="30" pos="2376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2274917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50E6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912" y="2982989"/>
            <a:ext cx="6858000" cy="25391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23373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2274917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912" y="2982989"/>
            <a:ext cx="6858000" cy="25391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099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2276856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50E6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5745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2276856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22228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43417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433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97" y="1077517"/>
            <a:ext cx="8263890" cy="1431161"/>
          </a:xfrm>
        </p:spPr>
        <p:txBody>
          <a:bodyPr/>
          <a:lstStyle>
            <a:lvl1pPr marL="0" indent="0">
              <a:buNone/>
              <a:defRPr sz="21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59915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438455" indent="0">
              <a:buNone/>
              <a:defRPr sz="15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610922" indent="0">
              <a:buNone/>
              <a:defRPr sz="135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788248" indent="0">
              <a:buNone/>
              <a:defRPr sz="135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34707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627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438150" y="1077516"/>
            <a:ext cx="8264129" cy="1661993"/>
          </a:xfrm>
        </p:spPr>
        <p:txBody>
          <a:bodyPr>
            <a:spAutoFit/>
          </a:bodyPr>
          <a:lstStyle>
            <a:lvl1pPr>
              <a:defRPr sz="2700">
                <a:latin typeface="+mn-lt"/>
              </a:defRPr>
            </a:lvl1pPr>
            <a:lvl2pPr>
              <a:defRPr sz="21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500">
                <a:latin typeface="+mn-lt"/>
              </a:defRPr>
            </a:lvl4pPr>
            <a:lvl5pPr>
              <a:defRPr sz="13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4701779"/>
            <a:ext cx="9144001" cy="44172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775" spc="-38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924614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8" y="247696"/>
            <a:ext cx="8389665" cy="45544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only with line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501" y="4786949"/>
            <a:ext cx="440354" cy="32546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B32AB80A-78BA-6B42-BA0D-B44ACF890F5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8714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with lin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8" y="247696"/>
            <a:ext cx="8389665" cy="45544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with 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853373"/>
            <a:ext cx="8382000" cy="34671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08218" y="238125"/>
            <a:ext cx="8363857" cy="0"/>
          </a:xfrm>
          <a:prstGeom prst="line">
            <a:avLst/>
          </a:prstGeom>
          <a:ln w="63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501" y="4786949"/>
            <a:ext cx="440354" cy="32546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B32AB80A-78BA-6B42-BA0D-B44ACF890F5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3330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without lin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8" y="247696"/>
            <a:ext cx="8389665" cy="45544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without 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853373"/>
            <a:ext cx="8382000" cy="34671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501" y="4786949"/>
            <a:ext cx="440354" cy="32546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B32AB80A-78BA-6B42-BA0D-B44ACF890F5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14663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501" y="4786949"/>
            <a:ext cx="440354" cy="32546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B32AB80A-78BA-6B42-BA0D-B44ACF890F5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694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70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197" y="342900"/>
            <a:ext cx="8263890" cy="415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38150" y="1076628"/>
            <a:ext cx="8263890" cy="1209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438912" cy="438912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19456" cy="21945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32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5" r:id="rId33"/>
    <p:sldLayoutId id="2147483696" r:id="rId34"/>
    <p:sldLayoutId id="2147483697" r:id="rId35"/>
    <p:sldLayoutId id="2147483698" r:id="rId36"/>
  </p:sldLayoutIdLst>
  <p:transition>
    <p:fade/>
  </p:transition>
  <p:hf hdr="0" ftr="0" dt="0"/>
  <p:txStyles>
    <p:titleStyle>
      <a:lvl1pPr algn="l" defTabSz="699557" rtl="0" eaLnBrk="1" latinLnBrk="0" hangingPunct="1">
        <a:lnSpc>
          <a:spcPct val="100000"/>
        </a:lnSpc>
        <a:spcBef>
          <a:spcPct val="0"/>
        </a:spcBef>
        <a:buNone/>
        <a:defRPr lang="en-US" sz="2700" b="0" kern="1200" cap="none" spc="-38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7145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1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34290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5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92919" marR="0" indent="-150019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632222" marR="0" indent="-135731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767954" marR="0" indent="-126206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923780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73559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23337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73116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977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9955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49335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99113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48892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9867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4844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9822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microsoft.com/office/2018/10/relationships/comments" Target="../comments/modernComment_11B_24234A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52400" y="1200150"/>
            <a:ext cx="3810000" cy="507831"/>
          </a:xfrm>
        </p:spPr>
        <p:txBody>
          <a:bodyPr/>
          <a:lstStyle/>
          <a:p>
            <a:r>
              <a:rPr lang="en-US" dirty="0"/>
              <a:t>CALIBER 2026 Hackathon Submission Template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0" y="2800350"/>
            <a:ext cx="3581400" cy="819775"/>
          </a:xfrm>
        </p:spPr>
        <p:txBody>
          <a:bodyPr>
            <a:noAutofit/>
          </a:bodyPr>
          <a:lstStyle/>
          <a:p>
            <a:pPr marL="28575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Team Group073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292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224">
        <p15:prstTrans prst="pageCurlDouble"/>
      </p:transition>
    </mc:Choice>
    <mc:Fallback xmlns="">
      <p:transition spd="slow" advTm="1224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title"/>
          </p:nvPr>
        </p:nvSpPr>
        <p:spPr>
          <a:xfrm>
            <a:off x="1543253" y="59710"/>
            <a:ext cx="8263890" cy="415499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r>
              <a:rPr lang="en-US" dirty="0"/>
              <a:t>Introduction of the Team with Pictures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F4576-A476-879A-9ED4-965A19BDDC33}"/>
              </a:ext>
            </a:extLst>
          </p:cNvPr>
          <p:cNvSpPr txBox="1"/>
          <p:nvPr/>
        </p:nvSpPr>
        <p:spPr>
          <a:xfrm>
            <a:off x="669073" y="1122168"/>
            <a:ext cx="697508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Introduction of the Team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Om Shankar Thakur – Lead Developer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80BC2-BB47-BB98-DEEF-BA5BA315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39" b="10129"/>
          <a:stretch>
            <a:fillRect/>
          </a:stretch>
        </p:blipFill>
        <p:spPr>
          <a:xfrm>
            <a:off x="1171091" y="2065021"/>
            <a:ext cx="1351130" cy="16230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2246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38" y="140225"/>
            <a:ext cx="5732261" cy="572700"/>
          </a:xfrm>
        </p:spPr>
        <p:txBody>
          <a:bodyPr>
            <a:normAutofit/>
          </a:bodyPr>
          <a:lstStyle/>
          <a:p>
            <a:r>
              <a:rPr dirty="0"/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598" y="610327"/>
            <a:ext cx="8686800" cy="4767972"/>
          </a:xfrm>
          <a:prstGeom prst="rect">
            <a:avLst/>
          </a:prstGeom>
          <a:noFill/>
          <a:ln>
            <a:noFill/>
          </a:ln>
        </p:spPr>
        <p:txBody>
          <a:bodyPr wrap="square" lIns="190500" tIns="0" rIns="0" bIns="190500" anchor="t">
            <a:spAutoFit/>
          </a:bodyPr>
          <a:lstStyle/>
          <a:p>
            <a:pPr marL="137160">
              <a:spcAft>
                <a:spcPts val="800"/>
              </a:spcAft>
              <a:buSzPct val="100000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EXECUTIVE SUMMARY</a:t>
            </a:r>
          </a:p>
          <a:p>
            <a:pPr marL="137160">
              <a:spcAft>
                <a:spcPts val="800"/>
              </a:spcAft>
              <a:buSzPct val="100000"/>
            </a:pPr>
            <a:r>
              <a:rPr lang="en-IN" sz="1200" b="1" dirty="0" err="1">
                <a:solidFill>
                  <a:srgbClr val="616161"/>
                </a:solidFill>
                <a:latin typeface="Proxima Nova"/>
              </a:rPr>
              <a:t>MedOrchestrator</a:t>
            </a: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is an AI-powered clinical decision-support platform that orchestrates multiple specialized agents to </a:t>
            </a:r>
            <a:r>
              <a:rPr lang="en-IN" sz="1200" b="1" dirty="0" err="1">
                <a:solidFill>
                  <a:srgbClr val="616161"/>
                </a:solidFill>
                <a:latin typeface="Proxima Nova"/>
              </a:rPr>
              <a:t>analyze</a:t>
            </a: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patient symptoms, lab results, and medications in parallel producing differential diagnoses, evidence-based treatment recommendations, and drug-safety alerts under clinician supervision.</a:t>
            </a:r>
          </a:p>
          <a:p>
            <a:pPr marL="137160">
              <a:spcAft>
                <a:spcPts val="800"/>
              </a:spcAft>
              <a:buSzPct val="100000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OBJECTIVE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Build a multi-agent AI system that runs analyses in parallel for speed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Provide ranked differential diagnoses with confidence scores and reasoning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Generate guideline-aligned treatment plans with dosing and monitoring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Flag drug interactions and critical lab values automatically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Surface dissenting opinions when agents disagree for clinical transparency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endParaRPr lang="en-IN" sz="1200" b="1" i="0" dirty="0">
              <a:solidFill>
                <a:srgbClr val="616161"/>
              </a:solidFill>
              <a:latin typeface="Proxima Nova"/>
            </a:endParaRPr>
          </a:p>
          <a:p>
            <a:pPr marL="137160">
              <a:spcAft>
                <a:spcPts val="800"/>
              </a:spcAft>
              <a:buSzPct val="100000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PROBLEM STATEMENT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Clinicians face information overload when diagnosing complex conditions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Manual correlation of symptoms, lab values, and drug interactions is time-consuming and error-prone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Delayed diagnosis impacts patient outcomes and increases healthcare costs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IN" sz="1200" b="1" dirty="0">
                <a:solidFill>
                  <a:srgbClr val="616161"/>
                </a:solidFill>
                <a:latin typeface="Proxima Nova"/>
              </a:rPr>
              <a:t> No integrated system exists to combine multiple clinical data sources intelligently</a:t>
            </a:r>
          </a:p>
          <a:p>
            <a:pPr marL="228600" indent="-91440">
              <a:spcAft>
                <a:spcPts val="800"/>
              </a:spcAft>
              <a:buSzPct val="100000"/>
              <a:buFont typeface="Arial"/>
              <a:buChar char="•"/>
            </a:pPr>
            <a:endParaRPr sz="1200" b="0" i="0" dirty="0">
              <a:solidFill>
                <a:srgbClr val="616161"/>
              </a:solidFill>
              <a:latin typeface="Proxima Nov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44C7-DFC1-48E9-6591-66BE4BA3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D1B7-49A6-9E08-02D6-3BFD40A0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Technical </a:t>
            </a:r>
            <a:r>
              <a:rPr lang="en-US" dirty="0"/>
              <a:t>Workflow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92AA6-F79F-71DB-3E23-37664E7028A4}"/>
              </a:ext>
            </a:extLst>
          </p:cNvPr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719675-829B-BF9F-675B-6C1F05A06DE9}"/>
              </a:ext>
            </a:extLst>
          </p:cNvPr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ECEFD8-CC0E-66D2-D86C-8237834A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19" y="1046858"/>
            <a:ext cx="6911161" cy="320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1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E3316-1D8A-0E80-8A0C-D25D8374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06B0-A32A-32F8-9178-24FB8C29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Technical </a:t>
            </a:r>
            <a:r>
              <a:rPr lang="en-US" dirty="0"/>
              <a:t>Justification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98F26-CCA1-3F5F-147C-EA25227A8DF0}"/>
              </a:ext>
            </a:extLst>
          </p:cNvPr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D23B5-E6D2-82C2-5A5F-36CBBCD887FB}"/>
              </a:ext>
            </a:extLst>
          </p:cNvPr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8D254-1D7B-9584-7487-3D5CA824078B}"/>
              </a:ext>
            </a:extLst>
          </p:cNvPr>
          <p:cNvSpPr txBox="1"/>
          <p:nvPr/>
        </p:nvSpPr>
        <p:spPr>
          <a:xfrm>
            <a:off x="754566" y="1468877"/>
            <a:ext cx="76348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dirty="0" err="1"/>
              <a:t>FastAPI</a:t>
            </a:r>
            <a:r>
              <a:rPr lang="en-IN" dirty="0"/>
              <a:t>: Async, high-performance API with automatic </a:t>
            </a:r>
            <a:r>
              <a:rPr lang="en-IN" dirty="0" err="1"/>
              <a:t>OpenAPI</a:t>
            </a:r>
            <a:r>
              <a:rPr lang="en-IN" dirty="0"/>
              <a:t> docs</a:t>
            </a:r>
          </a:p>
          <a:p>
            <a:r>
              <a:rPr lang="en-IN" dirty="0"/>
              <a:t>• </a:t>
            </a:r>
            <a:r>
              <a:rPr lang="en-IN" dirty="0" err="1"/>
              <a:t>Streamlit</a:t>
            </a:r>
            <a:r>
              <a:rPr lang="en-IN" dirty="0"/>
              <a:t>: Rapid UI development, ideal for clinical data forms</a:t>
            </a:r>
          </a:p>
          <a:p>
            <a:r>
              <a:rPr lang="en-IN" dirty="0"/>
              <a:t>• FAISS: Facebook's vector search, handles millions of embeddings efficiently</a:t>
            </a:r>
          </a:p>
          <a:p>
            <a:r>
              <a:rPr lang="en-IN" dirty="0"/>
              <a:t>• Azure OpenAI: Enterprise-grade LLM with HIPAA compliance capability</a:t>
            </a:r>
          </a:p>
          <a:p>
            <a:r>
              <a:rPr lang="en-IN" dirty="0"/>
              <a:t>• Sentence-Transformers: State-of-the-art embeddings for semantic matching</a:t>
            </a:r>
          </a:p>
          <a:p>
            <a:r>
              <a:rPr lang="en-IN" dirty="0"/>
              <a:t>• </a:t>
            </a:r>
            <a:r>
              <a:rPr lang="en-IN" dirty="0" err="1"/>
              <a:t>ThreadPoolExecutor</a:t>
            </a:r>
            <a:r>
              <a:rPr lang="en-IN" dirty="0"/>
              <a:t>: Native Python parallelism for concurrent agent execution</a:t>
            </a:r>
          </a:p>
        </p:txBody>
      </p:sp>
    </p:spTree>
    <p:extLst>
      <p:ext uri="{BB962C8B-B14F-4D97-AF65-F5344CB8AC3E}">
        <p14:creationId xmlns:p14="http://schemas.microsoft.com/office/powerpoint/2010/main" val="145705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Execution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616161"/>
                </a:solidFill>
                <a:latin typeface="Proxima Nova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6342" y="988099"/>
            <a:ext cx="4804317" cy="31085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/>
              <a:t>EXECUTION PROCESS</a:t>
            </a:r>
          </a:p>
          <a:p>
            <a:endParaRPr lang="en-IN" sz="1200" dirty="0"/>
          </a:p>
          <a:p>
            <a:r>
              <a:rPr lang="en-IN" sz="1200" dirty="0"/>
              <a:t>Terminal 1 (Backend):</a:t>
            </a:r>
          </a:p>
          <a:p>
            <a:r>
              <a:rPr lang="en-IN" sz="1200" dirty="0"/>
              <a:t>   </a:t>
            </a:r>
            <a:r>
              <a:rPr lang="en-IN" sz="1000" dirty="0" err="1">
                <a:solidFill>
                  <a:srgbClr val="0070C0"/>
                </a:solidFill>
              </a:rPr>
              <a:t>uvicorn</a:t>
            </a:r>
            <a:r>
              <a:rPr lang="en-IN" sz="1000" dirty="0">
                <a:solidFill>
                  <a:srgbClr val="0070C0"/>
                </a:solidFill>
              </a:rPr>
              <a:t> </a:t>
            </a:r>
            <a:r>
              <a:rPr lang="en-IN" sz="1000" dirty="0" err="1">
                <a:solidFill>
                  <a:srgbClr val="0070C0"/>
                </a:solidFill>
              </a:rPr>
              <a:t>server:app</a:t>
            </a:r>
            <a:r>
              <a:rPr lang="en-IN" sz="1000" dirty="0">
                <a:solidFill>
                  <a:srgbClr val="0070C0"/>
                </a:solidFill>
              </a:rPr>
              <a:t> --reload --port 8000</a:t>
            </a:r>
          </a:p>
          <a:p>
            <a:endParaRPr lang="en-IN" sz="1200" dirty="0"/>
          </a:p>
          <a:p>
            <a:r>
              <a:rPr lang="en-IN" sz="1200" dirty="0"/>
              <a:t>Terminal 2 (Frontend):</a:t>
            </a:r>
          </a:p>
          <a:p>
            <a:r>
              <a:rPr lang="en-IN" sz="1000" dirty="0">
                <a:solidFill>
                  <a:srgbClr val="0070C0"/>
                </a:solidFill>
              </a:rPr>
              <a:t>   </a:t>
            </a:r>
            <a:r>
              <a:rPr lang="en-IN" sz="1000" dirty="0" err="1">
                <a:solidFill>
                  <a:srgbClr val="0070C0"/>
                </a:solidFill>
              </a:rPr>
              <a:t>streamlit</a:t>
            </a:r>
            <a:r>
              <a:rPr lang="en-IN" sz="1000" dirty="0">
                <a:solidFill>
                  <a:srgbClr val="0070C0"/>
                </a:solidFill>
              </a:rPr>
              <a:t> run streamlit_app.py</a:t>
            </a:r>
          </a:p>
          <a:p>
            <a:endParaRPr lang="en-IN" sz="1200" dirty="0"/>
          </a:p>
          <a:p>
            <a:r>
              <a:rPr lang="en-IN" sz="1200" dirty="0"/>
              <a:t>Access:</a:t>
            </a:r>
          </a:p>
          <a:p>
            <a:r>
              <a:rPr lang="en-IN" sz="1200" dirty="0"/>
              <a:t>• </a:t>
            </a:r>
            <a:r>
              <a:rPr lang="en-IN" sz="1200" dirty="0" err="1"/>
              <a:t>Streamlit</a:t>
            </a:r>
            <a:r>
              <a:rPr lang="en-IN" sz="1200" dirty="0"/>
              <a:t> UI: </a:t>
            </a:r>
            <a:r>
              <a:rPr lang="en-IN" sz="1000" dirty="0">
                <a:solidFill>
                  <a:srgbClr val="0070C0"/>
                </a:solidFill>
              </a:rPr>
              <a:t>http://localhost:8501</a:t>
            </a:r>
          </a:p>
          <a:p>
            <a:r>
              <a:rPr lang="en-IN" sz="1200" dirty="0"/>
              <a:t>• API Docs: </a:t>
            </a:r>
            <a:r>
              <a:rPr lang="en-IN" sz="1000" dirty="0">
                <a:solidFill>
                  <a:srgbClr val="0070C0"/>
                </a:solidFill>
              </a:rPr>
              <a:t>http://localhost:8000/docs</a:t>
            </a:r>
          </a:p>
          <a:p>
            <a:endParaRPr lang="en-IN" sz="1200" dirty="0"/>
          </a:p>
          <a:p>
            <a:r>
              <a:rPr lang="en-IN" sz="1200" dirty="0"/>
              <a:t>TROUBLESHOOTING TIPS</a:t>
            </a:r>
          </a:p>
          <a:p>
            <a:r>
              <a:rPr lang="en-IN" sz="1200" dirty="0"/>
              <a:t>• "Module not found": Run pip install -r requirements.txt</a:t>
            </a:r>
          </a:p>
          <a:p>
            <a:r>
              <a:rPr lang="en-IN" sz="1200" dirty="0"/>
              <a:t>• "FAISS index not found": Run python rag/ingest.py</a:t>
            </a:r>
          </a:p>
          <a:p>
            <a:r>
              <a:rPr lang="en-IN" sz="1200" dirty="0"/>
              <a:t>• "Azure API error": Verify .env file credentials</a:t>
            </a:r>
          </a:p>
          <a:p>
            <a:r>
              <a:rPr lang="en-IN" sz="1200" dirty="0"/>
              <a:t>• "Connection refused": Ensure backend is running before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912B43-0ECB-6FD3-2D1F-83CC2887EFEF}"/>
              </a:ext>
            </a:extLst>
          </p:cNvPr>
          <p:cNvSpPr txBox="1"/>
          <p:nvPr/>
        </p:nvSpPr>
        <p:spPr>
          <a:xfrm>
            <a:off x="141250" y="899532"/>
            <a:ext cx="522620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SETUP INSTRUCTIONS</a:t>
            </a:r>
          </a:p>
          <a:p>
            <a:endParaRPr lang="en-IN" sz="1200" dirty="0"/>
          </a:p>
          <a:p>
            <a:r>
              <a:rPr lang="en-IN" sz="1200" dirty="0"/>
              <a:t>1. Clone the repository:</a:t>
            </a:r>
          </a:p>
          <a:p>
            <a:r>
              <a:rPr lang="en-IN" sz="1200" dirty="0"/>
              <a:t>   </a:t>
            </a:r>
            <a:r>
              <a:rPr lang="en-IN" sz="1000" dirty="0">
                <a:solidFill>
                  <a:srgbClr val="0070C0"/>
                </a:solidFill>
              </a:rPr>
              <a:t>git clone https://github.com/Om-Shankar-Thakur/clinical-ai-multiagent.git</a:t>
            </a:r>
          </a:p>
          <a:p>
            <a:r>
              <a:rPr lang="en-IN" sz="1000" dirty="0">
                <a:solidFill>
                  <a:srgbClr val="0070C0"/>
                </a:solidFill>
              </a:rPr>
              <a:t>   cd clinical-AI_NW</a:t>
            </a:r>
          </a:p>
          <a:p>
            <a:endParaRPr lang="en-IN" sz="1200" dirty="0"/>
          </a:p>
          <a:p>
            <a:r>
              <a:rPr lang="en-IN" sz="1200" dirty="0"/>
              <a:t>2. Create virtual environment:</a:t>
            </a:r>
          </a:p>
          <a:p>
            <a:r>
              <a:rPr lang="en-IN" sz="1000" dirty="0"/>
              <a:t>   </a:t>
            </a:r>
            <a:r>
              <a:rPr lang="en-IN" sz="1000" dirty="0">
                <a:solidFill>
                  <a:srgbClr val="0070C0"/>
                </a:solidFill>
              </a:rPr>
              <a:t>python -m </a:t>
            </a:r>
            <a:r>
              <a:rPr lang="en-IN" sz="1000" dirty="0" err="1">
                <a:solidFill>
                  <a:srgbClr val="0070C0"/>
                </a:solidFill>
              </a:rPr>
              <a:t>venv</a:t>
            </a:r>
            <a:r>
              <a:rPr lang="en-IN" sz="1000" dirty="0">
                <a:solidFill>
                  <a:srgbClr val="0070C0"/>
                </a:solidFill>
              </a:rPr>
              <a:t> </a:t>
            </a:r>
            <a:r>
              <a:rPr lang="en-IN" sz="1000" dirty="0" err="1">
                <a:solidFill>
                  <a:srgbClr val="0070C0"/>
                </a:solidFill>
              </a:rPr>
              <a:t>venv</a:t>
            </a:r>
            <a:endParaRPr lang="en-IN" sz="1000" dirty="0">
              <a:solidFill>
                <a:srgbClr val="0070C0"/>
              </a:solidFill>
            </a:endParaRPr>
          </a:p>
          <a:p>
            <a:r>
              <a:rPr lang="en-IN" sz="1000" dirty="0">
                <a:solidFill>
                  <a:srgbClr val="0070C0"/>
                </a:solidFill>
              </a:rPr>
              <a:t>   </a:t>
            </a:r>
            <a:r>
              <a:rPr lang="en-IN" sz="1000" dirty="0" err="1">
                <a:solidFill>
                  <a:srgbClr val="0070C0"/>
                </a:solidFill>
              </a:rPr>
              <a:t>venv</a:t>
            </a:r>
            <a:r>
              <a:rPr lang="en-IN" sz="1000" dirty="0">
                <a:solidFill>
                  <a:srgbClr val="0070C0"/>
                </a:solidFill>
              </a:rPr>
              <a:t>\Scripts\activate        </a:t>
            </a:r>
            <a:r>
              <a:rPr lang="en-IN" sz="1200" dirty="0"/>
              <a:t># Windows</a:t>
            </a:r>
          </a:p>
          <a:p>
            <a:endParaRPr lang="en-IN" sz="1200" dirty="0"/>
          </a:p>
          <a:p>
            <a:r>
              <a:rPr lang="en-IN" sz="1200" dirty="0"/>
              <a:t>3. Install dependencies:</a:t>
            </a:r>
          </a:p>
          <a:p>
            <a:r>
              <a:rPr lang="en-IN" sz="1200" dirty="0"/>
              <a:t>   </a:t>
            </a:r>
            <a:r>
              <a:rPr lang="en-IN" sz="1000" dirty="0">
                <a:solidFill>
                  <a:srgbClr val="0070C0"/>
                </a:solidFill>
              </a:rPr>
              <a:t>pip install -r requirements.txt</a:t>
            </a:r>
          </a:p>
          <a:p>
            <a:endParaRPr lang="en-IN" sz="1200" dirty="0"/>
          </a:p>
          <a:p>
            <a:r>
              <a:rPr lang="en-IN" sz="1200" dirty="0"/>
              <a:t>4. Configure environment (.env file)</a:t>
            </a:r>
          </a:p>
          <a:p>
            <a:endParaRPr lang="en-IN" sz="1200" dirty="0"/>
          </a:p>
          <a:p>
            <a:r>
              <a:rPr lang="en-IN" sz="1200" dirty="0"/>
              <a:t>5. Ingest data (first time only):</a:t>
            </a:r>
          </a:p>
          <a:p>
            <a:r>
              <a:rPr lang="en-IN" sz="1200" dirty="0"/>
              <a:t>   </a:t>
            </a:r>
            <a:r>
              <a:rPr lang="en-IN" sz="1000" dirty="0">
                <a:solidFill>
                  <a:srgbClr val="0070C0"/>
                </a:solidFill>
              </a:rPr>
              <a:t>python rag/ingest.py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978738"/>
            <a:ext cx="8305800" cy="473975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How to Execute the Code (Steps)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1: Connect via RDP/SSH to VM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2: Navigate to project directory - </a:t>
            </a:r>
            <a:r>
              <a:rPr lang="en-US" sz="1000" i="1" dirty="0">
                <a:solidFill>
                  <a:srgbClr val="0070C0"/>
                </a:solidFill>
              </a:rPr>
              <a:t>cd c:\path\to\clinical-AI_NW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3: Activate virtual environment - </a:t>
            </a:r>
            <a:r>
              <a:rPr lang="en-US" sz="1000" i="1" dirty="0">
                <a:solidFill>
                  <a:srgbClr val="0070C0"/>
                </a:solidFill>
              </a:rPr>
              <a:t>\</a:t>
            </a:r>
            <a:r>
              <a:rPr lang="en-US" sz="1000" i="1" dirty="0" err="1">
                <a:solidFill>
                  <a:srgbClr val="0070C0"/>
                </a:solidFill>
              </a:rPr>
              <a:t>venv</a:t>
            </a:r>
            <a:r>
              <a:rPr lang="en-US" sz="1000" i="1" dirty="0">
                <a:solidFill>
                  <a:srgbClr val="0070C0"/>
                </a:solidFill>
              </a:rPr>
              <a:t>\Scripts\activate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4: Start </a:t>
            </a:r>
            <a:r>
              <a:rPr lang="en-US" sz="1000" dirty="0" err="1"/>
              <a:t>FastAPI</a:t>
            </a:r>
            <a:r>
              <a:rPr lang="en-US" sz="1000" dirty="0"/>
              <a:t> backend (Terminal 1) - </a:t>
            </a:r>
            <a:r>
              <a:rPr lang="en-US" sz="1000" i="1" dirty="0" err="1">
                <a:solidFill>
                  <a:srgbClr val="0070C0"/>
                </a:solidFill>
              </a:rPr>
              <a:t>uvicorn</a:t>
            </a:r>
            <a:r>
              <a:rPr lang="en-US" sz="1000" i="1" dirty="0">
                <a:solidFill>
                  <a:srgbClr val="0070C0"/>
                </a:solidFill>
              </a:rPr>
              <a:t> </a:t>
            </a:r>
            <a:r>
              <a:rPr lang="en-US" sz="1000" i="1" dirty="0" err="1">
                <a:solidFill>
                  <a:srgbClr val="0070C0"/>
                </a:solidFill>
              </a:rPr>
              <a:t>server:app</a:t>
            </a:r>
            <a:r>
              <a:rPr lang="en-US" sz="1000" i="1" dirty="0">
                <a:solidFill>
                  <a:srgbClr val="0070C0"/>
                </a:solidFill>
              </a:rPr>
              <a:t> --reload --port 8000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5: Start </a:t>
            </a:r>
            <a:r>
              <a:rPr lang="en-US" sz="1000" dirty="0" err="1"/>
              <a:t>Streamlit</a:t>
            </a:r>
            <a:r>
              <a:rPr lang="en-US" sz="1000" dirty="0"/>
              <a:t> frontend (Terminal 2) - </a:t>
            </a:r>
            <a:r>
              <a:rPr lang="en-US" sz="1000" i="1" dirty="0" err="1">
                <a:solidFill>
                  <a:srgbClr val="0070C0"/>
                </a:solidFill>
              </a:rPr>
              <a:t>streamlit</a:t>
            </a:r>
            <a:r>
              <a:rPr lang="en-US" sz="1000" i="1" dirty="0">
                <a:solidFill>
                  <a:srgbClr val="0070C0"/>
                </a:solidFill>
              </a:rPr>
              <a:t> run streamlit_app.py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6: Open browser to </a:t>
            </a:r>
            <a:r>
              <a:rPr lang="en-US" sz="1000" i="1" dirty="0">
                <a:solidFill>
                  <a:srgbClr val="0070C0"/>
                </a:solidFill>
              </a:rPr>
              <a:t>http://localhost:8501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r>
              <a:rPr lang="en-US" sz="1000" dirty="0"/>
              <a:t>Step 7: Enter patient data and click "Analyze Patient"</a:t>
            </a:r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  <a:p>
            <a:pPr marL="285750" indent="-285750">
              <a:buFont typeface="+mj-lt"/>
              <a:buAutoNum type="romanLcPeriod"/>
            </a:pPr>
            <a:endParaRPr lang="en-US" sz="1000" dirty="0"/>
          </a:p>
        </p:txBody>
      </p:sp>
      <p:sp>
        <p:nvSpPr>
          <p:cNvPr id="11" name="Title 4"/>
          <p:cNvSpPr txBox="1">
            <a:spLocks/>
          </p:cNvSpPr>
          <p:nvPr/>
        </p:nvSpPr>
        <p:spPr>
          <a:xfrm>
            <a:off x="381000" y="268892"/>
            <a:ext cx="7467600" cy="493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</a:rPr>
              <a:t>VM Details &amp; Instructions to execute code (If any)</a:t>
            </a:r>
          </a:p>
        </p:txBody>
      </p:sp>
    </p:spTree>
    <p:extLst>
      <p:ext uri="{BB962C8B-B14F-4D97-AF65-F5344CB8AC3E}">
        <p14:creationId xmlns:p14="http://schemas.microsoft.com/office/powerpoint/2010/main" val="2136187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Demo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616161"/>
                </a:solidFill>
                <a:latin typeface="Proxima Nova"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07D03-EAFB-5316-3B0E-4CC1AB1C59FB}"/>
              </a:ext>
            </a:extLst>
          </p:cNvPr>
          <p:cNvSpPr txBox="1"/>
          <p:nvPr/>
        </p:nvSpPr>
        <p:spPr>
          <a:xfrm>
            <a:off x="311699" y="712925"/>
            <a:ext cx="689702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GitHub Repository URL - https://github.com/Om-Shankar-Thakur/clinical-ai-multiagent</a:t>
            </a:r>
          </a:p>
          <a:p>
            <a:endParaRPr lang="en-IN" sz="1000" dirty="0"/>
          </a:p>
          <a:p>
            <a:r>
              <a:rPr lang="en-IN" sz="1000" dirty="0"/>
              <a:t>KEY FINDINGS AND RESULTS</a:t>
            </a:r>
          </a:p>
          <a:p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Parallel Execution: 2× faster diagnosis via concurrent agent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High Accuracy: Dengue correctly identified with 0.588 confidence from </a:t>
            </a:r>
          </a:p>
          <a:p>
            <a:r>
              <a:rPr lang="en-IN" sz="1000" dirty="0"/>
              <a:t>     symptoms (fever, body pain, headache, chills) + lab patterns (low platelets)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Critical Alert Detection: Low platelets (&lt;100K) flagged as critical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Drug Safety: Ibuprofen flagged as HIGH SEVERITY risk for dengue </a:t>
            </a:r>
          </a:p>
          <a:p>
            <a:r>
              <a:rPr lang="en-IN" sz="1000" dirty="0"/>
              <a:t>     (bleeding risk with thrombocytopenia)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Dissenting Opinions: Malaria ranked #1 by symptoms but #4 by labs — </a:t>
            </a:r>
          </a:p>
          <a:p>
            <a:r>
              <a:rPr lang="en-IN" sz="1000" dirty="0"/>
              <a:t>     system surfaced this disagreement for clinician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Guideline Alignment: Treatment plans generated from retrieved clinical </a:t>
            </a:r>
          </a:p>
          <a:p>
            <a:r>
              <a:rPr lang="en-IN" sz="1000" dirty="0"/>
              <a:t>     guideline documents (RAG-based)</a:t>
            </a:r>
          </a:p>
          <a:p>
            <a:endParaRPr lang="en-IN" sz="1000" dirty="0"/>
          </a:p>
          <a:p>
            <a:r>
              <a:rPr lang="en-IN" sz="1000" dirty="0"/>
              <a:t>SAMPLE OUTPUT</a:t>
            </a:r>
          </a:p>
          <a:p>
            <a:r>
              <a:rPr lang="en-IN" sz="1000" dirty="0"/>
              <a:t> Primary Diagnosis: Dengue          </a:t>
            </a:r>
          </a:p>
          <a:p>
            <a:r>
              <a:rPr lang="en-IN" sz="1000" dirty="0"/>
              <a:t> Confidence: 58.8%         </a:t>
            </a:r>
          </a:p>
          <a:p>
            <a:r>
              <a:rPr lang="en-IN" sz="1000" dirty="0"/>
              <a:t> Critical Flags: 🚨 Low Platelets                             </a:t>
            </a:r>
          </a:p>
          <a:p>
            <a:r>
              <a:rPr lang="en-IN" sz="1000" dirty="0"/>
              <a:t> Drug Warning: ⚠️ Ibuprofen bleeding risk (HIGH)              </a:t>
            </a:r>
          </a:p>
          <a:p>
            <a:r>
              <a:rPr lang="en-IN" sz="1000" dirty="0"/>
              <a:t> Dissent: Malaria symptom #1 vs lab #4                     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8E8420-CC81-284A-D1A7-5AF4372F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313" y="1285625"/>
            <a:ext cx="4090638" cy="21663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Details in Brief </a:t>
            </a:r>
            <a:r>
              <a:rPr lang="en-US" i="1" dirty="0"/>
              <a:t>(Add as much as possible)</a:t>
            </a:r>
            <a:endParaRPr i="1" dirty="0"/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300" b="0" i="0">
                <a:solidFill>
                  <a:srgbClr val="616161"/>
                </a:solidFill>
                <a:latin typeface="Proxima Nova"/>
              </a:defRPr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616161"/>
              </a:solidFill>
              <a:effectLst/>
              <a:uLnTx/>
              <a:uFillTx/>
              <a:latin typeface="Proxima Nova"/>
              <a:ea typeface="+mn-ea"/>
              <a:cs typeface="+mn-cs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896242"/>
            <a:ext cx="4190999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0264A-1AA7-3151-BAF2-9FB06CD9C4E4}"/>
              </a:ext>
            </a:extLst>
          </p:cNvPr>
          <p:cNvSpPr txBox="1"/>
          <p:nvPr/>
        </p:nvSpPr>
        <p:spPr>
          <a:xfrm>
            <a:off x="4653776" y="976349"/>
            <a:ext cx="4249148" cy="3424014"/>
          </a:xfrm>
          <a:prstGeom prst="rect">
            <a:avLst/>
          </a:prstGeom>
          <a:noFill/>
          <a:ln>
            <a:noFill/>
          </a:ln>
        </p:spPr>
        <p:txBody>
          <a:bodyPr wrap="square" lIns="190500" tIns="0" rIns="0" bIns="190500" anchor="t">
            <a:spAutoFit/>
          </a:bodyPr>
          <a:lstStyle/>
          <a:p>
            <a:r>
              <a:rPr lang="en-IN" sz="1050" b="1" dirty="0"/>
              <a:t>WHAT IT DOES (DETAILED)</a:t>
            </a:r>
          </a:p>
          <a:p>
            <a:endParaRPr lang="en-IN" sz="1050" b="1" dirty="0"/>
          </a:p>
          <a:p>
            <a:r>
              <a:rPr lang="en-IN" sz="1050" dirty="0"/>
              <a:t>Input: Chief complaint, symptoms, lab values, current medications</a:t>
            </a:r>
          </a:p>
          <a:p>
            <a:r>
              <a:rPr lang="en-IN" sz="1050" dirty="0"/>
              <a:t>       ↓</a:t>
            </a:r>
          </a:p>
          <a:p>
            <a:r>
              <a:rPr lang="en-IN" sz="1050" dirty="0"/>
              <a:t>Step 1: Symptom Analyzer + Lab Interpreter run IN PARALLEL</a:t>
            </a:r>
          </a:p>
          <a:p>
            <a:r>
              <a:rPr lang="en-IN" sz="1050" dirty="0"/>
              <a:t>        (</a:t>
            </a:r>
            <a:r>
              <a:rPr lang="en-IN" sz="1050" dirty="0" err="1"/>
              <a:t>ThreadPoolExecutor</a:t>
            </a:r>
            <a:r>
              <a:rPr lang="en-IN" sz="1050" dirty="0"/>
              <a:t> with 2 workers)</a:t>
            </a:r>
          </a:p>
          <a:p>
            <a:r>
              <a:rPr lang="en-IN" sz="1050" dirty="0"/>
              <a:t>       ↓</a:t>
            </a:r>
          </a:p>
          <a:p>
            <a:r>
              <a:rPr lang="en-IN" sz="1050" dirty="0"/>
              <a:t>Step 2: Orchestrator ARBITRATES diagnosis</a:t>
            </a:r>
          </a:p>
          <a:p>
            <a:r>
              <a:rPr lang="en-IN" sz="1050" dirty="0"/>
              <a:t>        (55% symptom score + 45% lab score weighted merge)</a:t>
            </a:r>
          </a:p>
          <a:p>
            <a:r>
              <a:rPr lang="en-IN" sz="1050" dirty="0"/>
              <a:t>       ↓</a:t>
            </a:r>
          </a:p>
          <a:p>
            <a:r>
              <a:rPr lang="en-IN" sz="1050" dirty="0"/>
              <a:t>Step 3: Treatment Planner retrieves guidelines via FAISS</a:t>
            </a:r>
          </a:p>
          <a:p>
            <a:r>
              <a:rPr lang="en-IN" sz="1050" dirty="0"/>
              <a:t>        LLM formats into structured management options</a:t>
            </a:r>
          </a:p>
          <a:p>
            <a:r>
              <a:rPr lang="en-IN" sz="1050" dirty="0"/>
              <a:t>       ↓</a:t>
            </a:r>
          </a:p>
          <a:p>
            <a:r>
              <a:rPr lang="en-IN" sz="1050" dirty="0"/>
              <a:t>Step 4: Drug Interaction Checker validates against medications</a:t>
            </a:r>
          </a:p>
          <a:p>
            <a:r>
              <a:rPr lang="en-IN" sz="1050" dirty="0"/>
              <a:t>        Flags contraindications with severity levels</a:t>
            </a:r>
          </a:p>
          <a:p>
            <a:r>
              <a:rPr lang="en-IN" sz="1050" dirty="0"/>
              <a:t>       ↓</a:t>
            </a:r>
          </a:p>
          <a:p>
            <a:r>
              <a:rPr lang="en-IN" sz="1050" dirty="0"/>
              <a:t>Output: JSON report with diagnosis, confidence, treatment plan,</a:t>
            </a:r>
          </a:p>
          <a:p>
            <a:r>
              <a:rPr lang="en-IN" sz="1050" dirty="0"/>
              <a:t>        drug warnings, critical flags, dissenting opinions</a:t>
            </a:r>
          </a:p>
          <a:p>
            <a:endParaRPr lang="en-IN" sz="105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616161"/>
              </a:solidFill>
              <a:effectLst/>
              <a:uLnTx/>
              <a:uFillTx/>
              <a:latin typeface="Proxima Nova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F3F59-CE30-0A38-3C73-59D1871606F4}"/>
              </a:ext>
            </a:extLst>
          </p:cNvPr>
          <p:cNvSpPr txBox="1"/>
          <p:nvPr/>
        </p:nvSpPr>
        <p:spPr>
          <a:xfrm>
            <a:off x="228600" y="832886"/>
            <a:ext cx="442517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USE CASE / IDEA</a:t>
            </a:r>
          </a:p>
          <a:p>
            <a:r>
              <a:rPr lang="en-IN" sz="1000" dirty="0"/>
              <a:t>• Emergency Room triage: Rapid differential diagnosis from intake symptoms</a:t>
            </a:r>
          </a:p>
          <a:p>
            <a:r>
              <a:rPr lang="en-IN" sz="1000" dirty="0"/>
              <a:t>• Outpatient clinics: Decision support for primary care physicians</a:t>
            </a:r>
          </a:p>
          <a:p>
            <a:r>
              <a:rPr lang="en-IN" sz="1000" dirty="0"/>
              <a:t>• Rural healthcare: Expert-level guidance where specialists are unavailable</a:t>
            </a:r>
          </a:p>
          <a:p>
            <a:r>
              <a:rPr lang="en-IN" sz="1000" dirty="0"/>
              <a:t>• Clinical training: Educational tool for medical students</a:t>
            </a:r>
          </a:p>
          <a:p>
            <a:endParaRPr lang="en-IN" sz="1000" dirty="0"/>
          </a:p>
          <a:p>
            <a:r>
              <a:rPr lang="en-IN" sz="1000" b="1" dirty="0"/>
              <a:t>INTRODUCTION TO SOLUTION</a:t>
            </a:r>
          </a:p>
          <a:p>
            <a:r>
              <a:rPr lang="en-IN" sz="1000" dirty="0" err="1"/>
              <a:t>MedOrchestrator</a:t>
            </a:r>
            <a:r>
              <a:rPr lang="en-IN" sz="1000" dirty="0"/>
              <a:t> uses 4 specialized AI agents coordinated by an orchestrator:</a:t>
            </a:r>
          </a:p>
          <a:p>
            <a:r>
              <a:rPr lang="en-IN" sz="1000" dirty="0"/>
              <a:t>1. Symptom Analyzer — semantic search over disease database</a:t>
            </a:r>
          </a:p>
          <a:p>
            <a:r>
              <a:rPr lang="en-IN" sz="1000" dirty="0"/>
              <a:t>2. Lab Interpreter — rule-based critical value detection</a:t>
            </a:r>
          </a:p>
          <a:p>
            <a:r>
              <a:rPr lang="en-IN" sz="1000" dirty="0"/>
              <a:t>3. Treatment Planner — RAG retrieval + LLM guideline formatting</a:t>
            </a:r>
          </a:p>
          <a:p>
            <a:r>
              <a:rPr lang="en-IN" sz="1000" dirty="0"/>
              <a:t>4. Drug Interaction Checker — LLM safety review</a:t>
            </a:r>
          </a:p>
          <a:p>
            <a:endParaRPr lang="en-IN" sz="1000" dirty="0"/>
          </a:p>
          <a:p>
            <a:r>
              <a:rPr lang="en-IN" sz="1000" b="1" dirty="0"/>
              <a:t>TECHNICAL DETAILS — WHY THESE COMPONENTS?</a:t>
            </a:r>
          </a:p>
          <a:p>
            <a:r>
              <a:rPr lang="en-IN" sz="1000" dirty="0"/>
              <a:t>• FAISS over Pinecone: Local execution, no external API costs, fast</a:t>
            </a:r>
          </a:p>
          <a:p>
            <a:r>
              <a:rPr lang="en-IN" sz="1000" dirty="0"/>
              <a:t>• Sentence-BERT (all-MiniLM-L6-v2): 5× faster than BERT, 384-dim efficient</a:t>
            </a:r>
          </a:p>
          <a:p>
            <a:r>
              <a:rPr lang="en-IN" sz="1000" dirty="0"/>
              <a:t>• </a:t>
            </a:r>
            <a:r>
              <a:rPr lang="en-IN" sz="1000" dirty="0" err="1"/>
              <a:t>FastAPI</a:t>
            </a:r>
            <a:r>
              <a:rPr lang="en-IN" sz="1000" dirty="0"/>
              <a:t> over Flask: Native async, </a:t>
            </a:r>
            <a:r>
              <a:rPr lang="en-IN" sz="1000" dirty="0" err="1"/>
              <a:t>Pydantic</a:t>
            </a:r>
            <a:r>
              <a:rPr lang="en-IN" sz="1000" dirty="0"/>
              <a:t> validation, auto-docs</a:t>
            </a:r>
          </a:p>
          <a:p>
            <a:r>
              <a:rPr lang="en-IN" sz="1000" dirty="0"/>
              <a:t>• </a:t>
            </a:r>
            <a:r>
              <a:rPr lang="en-IN" sz="1000" dirty="0" err="1"/>
              <a:t>ThreadPoolExecutor</a:t>
            </a:r>
            <a:r>
              <a:rPr lang="en-IN" sz="1000" dirty="0"/>
              <a:t> over </a:t>
            </a:r>
            <a:r>
              <a:rPr lang="en-IN" sz="1000" dirty="0" err="1"/>
              <a:t>asyncio</a:t>
            </a:r>
            <a:r>
              <a:rPr lang="en-IN" sz="1000" dirty="0"/>
              <a:t>: Simpler for CPU-bound agent work</a:t>
            </a:r>
          </a:p>
          <a:p>
            <a:r>
              <a:rPr lang="en-IN" sz="1000" dirty="0"/>
              <a:t>• Weighted arbitration (55/45): Symptoms more reliable than partial labs</a:t>
            </a:r>
          </a:p>
          <a:p>
            <a:r>
              <a:rPr lang="en-IN" sz="1000" dirty="0"/>
              <a:t>• Confidence threshold (0.4): Prevents hallucinated plans for uncertain dx</a:t>
            </a:r>
          </a:p>
          <a:p>
            <a:endParaRPr lang="en-IN" sz="1000" dirty="0"/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8194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Future Roadmap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61331" y="1531928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616161"/>
                </a:solidFill>
                <a:latin typeface="Proxima Nova"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82069" y="2598335"/>
            <a:ext cx="4938132" cy="17215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Next Steps (Post-Hackathon)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Deploy on Azure App Service Pilot with Cognizant healthcare clients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Expand to 200+ diseases Integrate ICD-10 coding for billing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Conduct clinical validation studies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Initiate FDA/CE regulatory process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1699" y="657030"/>
            <a:ext cx="4707673" cy="36858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Product Roadmap: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sz="1100" dirty="0">
                <a:solidFill>
                  <a:schemeClr val="tx1"/>
                </a:solidFill>
              </a:rPr>
              <a:t>Q3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Radiology Image Agent (X-ray / CT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Voice-based symptom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Expand disease coverage</a:t>
            </a:r>
          </a:p>
          <a:p>
            <a:endParaRPr lang="en-IN" sz="1100" dirty="0">
              <a:solidFill>
                <a:schemeClr val="tx1"/>
              </a:solidFill>
            </a:endParaRPr>
          </a:p>
          <a:p>
            <a:r>
              <a:rPr lang="en-IN" sz="1100" dirty="0">
                <a:solidFill>
                  <a:schemeClr val="tx1"/>
                </a:solidFill>
              </a:rPr>
              <a:t>Q4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FHIR / HL7 healthcare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EHR system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Audit logging &amp; HIPAA compliance strengthening</a:t>
            </a:r>
          </a:p>
          <a:p>
            <a:endParaRPr lang="en-IN" sz="1100" dirty="0">
              <a:solidFill>
                <a:schemeClr val="tx1"/>
              </a:solidFill>
            </a:endParaRPr>
          </a:p>
          <a:p>
            <a:r>
              <a:rPr lang="en-IN" sz="1100" dirty="0">
                <a:solidFill>
                  <a:schemeClr val="tx1"/>
                </a:solidFill>
              </a:rPr>
              <a:t>Q1 2027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Multi-language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Mobile application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Offline capability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FDA/CE regulatory pathway initiation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0826" y="1046858"/>
            <a:ext cx="4707673" cy="12772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IN" dirty="0"/>
              <a:t>Planned Enhancements: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/>
              <a:t>Radiology AI Agent for imaging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/>
              <a:t>Patient History Module (longitudinal data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/>
              <a:t>Confidence Calibration using real-world clinical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/>
              <a:t>Explainability Dashboard for transparent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/>
              <a:t>Multi-modal Input (voice + structured data)</a:t>
            </a:r>
            <a:endParaRPr sz="1100" dirty="0"/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83B23D-8D36-9B69-2BA0-D799177CD5E1}"/>
              </a:ext>
            </a:extLst>
          </p:cNvPr>
          <p:cNvSpPr txBox="1"/>
          <p:nvPr/>
        </p:nvSpPr>
        <p:spPr>
          <a:xfrm>
            <a:off x="992458" y="410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4539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63D297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hite Template">
  <a:themeElements>
    <a:clrScheme name="2019 Brand BLUE Light Bak">
      <a:dk1>
        <a:srgbClr val="000000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243A5E"/>
      </a:accent2>
      <a:accent3>
        <a:srgbClr val="D83B01"/>
      </a:accent3>
      <a:accent4>
        <a:srgbClr val="107C10"/>
      </a:accent4>
      <a:accent5>
        <a:srgbClr val="8661C5"/>
      </a:accent5>
      <a:accent6>
        <a:srgbClr val="73737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Blue_Business_2019_01.potx" id="{B0165121-FD4C-4FB2-AB8E-131DE748EDF5}" vid="{38B4141F-19E8-4729-A392-CD2A2D913255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48DC516EF3114FA8E31EADEDC74F72" ma:contentTypeVersion="3" ma:contentTypeDescription="Create a new document." ma:contentTypeScope="" ma:versionID="2db2f6d31431846be94a32ebefcb0612">
  <xsd:schema xmlns:xsd="http://www.w3.org/2001/XMLSchema" xmlns:xs="http://www.w3.org/2001/XMLSchema" xmlns:p="http://schemas.microsoft.com/office/2006/metadata/properties" xmlns:ns2="dcc4b3c2-f0ae-4f16-952c-0234b27668c8" targetNamespace="http://schemas.microsoft.com/office/2006/metadata/properties" ma:root="true" ma:fieldsID="4817278eab1b23d811a62ed3262ded70" ns2:_="">
    <xsd:import namespace="dcc4b3c2-f0ae-4f16-952c-0234b27668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4b3c2-f0ae-4f16-952c-0234b27668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CFE210-F1BC-4225-A522-29EA433D61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2270DC-E2C2-4E58-A9E1-5D4FBDD284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4b3c2-f0ae-4f16-952c-0234b27668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C918D5-C676-46BA-8124-5C5271BBFA5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1147</Words>
  <Application>Microsoft Office PowerPoint</Application>
  <PresentationFormat>On-screen Show (16:9)</PresentationFormat>
  <Paragraphs>202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Segoe UI Semibold</vt:lpstr>
      <vt:lpstr>Wingdings</vt:lpstr>
      <vt:lpstr>Consolas</vt:lpstr>
      <vt:lpstr>Segoe UI</vt:lpstr>
      <vt:lpstr>Proxima Nova</vt:lpstr>
      <vt:lpstr>Arial</vt:lpstr>
      <vt:lpstr>Calibri</vt:lpstr>
      <vt:lpstr>Spearmint</vt:lpstr>
      <vt:lpstr>1_White Template</vt:lpstr>
      <vt:lpstr>PowerPoint Presentation</vt:lpstr>
      <vt:lpstr>Introduction of the Team with Pictures</vt:lpstr>
      <vt:lpstr>Project Overview</vt:lpstr>
      <vt:lpstr>Technical Architecture</vt:lpstr>
      <vt:lpstr>Technical Workflow</vt:lpstr>
      <vt:lpstr>Technical Justification</vt:lpstr>
      <vt:lpstr>Execution Steps</vt:lpstr>
      <vt:lpstr>PowerPoint Presentation</vt:lpstr>
      <vt:lpstr>Demo and Results</vt:lpstr>
      <vt:lpstr>Additional Details in Brief (Add as much as possible)</vt:lpstr>
      <vt:lpstr>Future Roadmap and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Presentation Template</dc:title>
  <dc:creator>Harshal Charde (CCoC)</dc:creator>
  <cp:lastModifiedBy>Thakur, OM Shankar (Cognizant)</cp:lastModifiedBy>
  <cp:revision>8</cp:revision>
  <dcterms:modified xsi:type="dcterms:W3CDTF">2026-07-16T06:40:01Z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0x0101005148DC516EF3114FA8E31EADEDC74F72</vt:lpwstr>
  </property>
</Properties>
</file>